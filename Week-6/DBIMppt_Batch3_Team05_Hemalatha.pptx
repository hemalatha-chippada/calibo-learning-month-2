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 Bold" charset="1" panose="020B0704020202020204"/>
      <p:regular r:id="rId16"/>
    </p:embeddedFont>
    <p:embeddedFont>
      <p:font typeface="League Spartan" charset="1" panose="00000800000000000000"/>
      <p:regular r:id="rId17"/>
    </p:embeddedFont>
    <p:embeddedFont>
      <p:font typeface="Arial" charset="1" panose="020B0604020202020204"/>
      <p:regular r:id="rId18"/>
    </p:embeddedFont>
    <p:embeddedFont>
      <p:font typeface="Arial Italics" charset="1" panose="020B0604020202090204"/>
      <p:regular r:id="rId19"/>
    </p:embeddedFont>
    <p:embeddedFont>
      <p:font typeface="Montserrat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0960" y="-1234440"/>
            <a:ext cx="12755880" cy="12755880"/>
            <a:chOff x="0" y="0"/>
            <a:chExt cx="17007840" cy="17007840"/>
          </a:xfrm>
        </p:grpSpPr>
        <p:sp>
          <p:nvSpPr>
            <p:cNvPr name="Freeform 3" id="3" descr="tex.png"/>
            <p:cNvSpPr/>
            <p:nvPr/>
          </p:nvSpPr>
          <p:spPr>
            <a:xfrm flipH="false" flipV="false" rot="0">
              <a:off x="0" y="0"/>
              <a:ext cx="17007839" cy="17007839"/>
            </a:xfrm>
            <a:custGeom>
              <a:avLst/>
              <a:gdLst/>
              <a:ahLst/>
              <a:cxnLst/>
              <a:rect r="r" b="b" t="t" l="l"/>
              <a:pathLst>
                <a:path h="17007839" w="17007839">
                  <a:moveTo>
                    <a:pt x="0" y="0"/>
                  </a:moveTo>
                  <a:lnTo>
                    <a:pt x="17007839" y="0"/>
                  </a:lnTo>
                  <a:lnTo>
                    <a:pt x="17007839" y="17007839"/>
                  </a:lnTo>
                  <a:lnTo>
                    <a:pt x="0" y="1700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2960" y="596584"/>
            <a:ext cx="123444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6E6B66"/>
                </a:solidFill>
                <a:latin typeface="Arial Bold"/>
                <a:ea typeface="Arial Bold"/>
                <a:cs typeface="Arial Bold"/>
                <a:sym typeface="Arial Bold"/>
              </a:rPr>
              <a:t>    </a:t>
            </a:r>
            <a:r>
              <a:rPr lang="en-US" b="true" sz="1350" spc="449">
                <a:solidFill>
                  <a:srgbClr val="6E6B66"/>
                </a:solidFill>
                <a:latin typeface="Arial Bold"/>
                <a:ea typeface="Arial Bold"/>
                <a:cs typeface="Arial Bold"/>
                <a:sym typeface="Arial Bold"/>
              </a:rPr>
              <a:t>DIGITAL BUSINESS INNOVATION 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800" y="2047875"/>
            <a:ext cx="9601200" cy="371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0"/>
              </a:lnSpc>
            </a:pPr>
            <a:r>
              <a:rPr lang="en-US" sz="300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48%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5673090"/>
            <a:ext cx="768096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of enterprise-wide digital initiatives meet or exceed their business outcome targets.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960" y="7113270"/>
            <a:ext cx="68580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449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GARTNER, AS CITED BY CALIBO</a:t>
            </a:r>
          </a:p>
        </p:txBody>
      </p:sp>
      <p:sp>
        <p:nvSpPr>
          <p:cNvPr name="AutoShape 8" id="8"/>
          <p:cNvSpPr/>
          <p:nvPr/>
        </p:nvSpPr>
        <p:spPr>
          <a:xfrm rot="12540">
            <a:off x="813416" y="8224838"/>
            <a:ext cx="5231168" cy="0"/>
          </a:xfrm>
          <a:prstGeom prst="line">
            <a:avLst/>
          </a:prstGeom>
          <a:ln cap="rnd" w="9525">
            <a:solidFill>
              <a:srgbClr val="2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822960" y="8384667"/>
            <a:ext cx="685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B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7340" y="8384667"/>
            <a:ext cx="43891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Big-bang programs stall</a:t>
            </a:r>
          </a:p>
        </p:txBody>
      </p:sp>
      <p:sp>
        <p:nvSpPr>
          <p:cNvPr name="AutoShape 11" id="11"/>
          <p:cNvSpPr/>
          <p:nvPr/>
        </p:nvSpPr>
        <p:spPr>
          <a:xfrm rot="12540">
            <a:off x="6395828" y="8224838"/>
            <a:ext cx="5231168" cy="0"/>
          </a:xfrm>
          <a:prstGeom prst="line">
            <a:avLst/>
          </a:prstGeom>
          <a:ln cap="rnd" w="9525">
            <a:solidFill>
              <a:srgbClr val="2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6405372" y="8384667"/>
            <a:ext cx="685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B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59752" y="8384667"/>
            <a:ext cx="43891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Silos build the same thing twice</a:t>
            </a:r>
          </a:p>
        </p:txBody>
      </p:sp>
      <p:sp>
        <p:nvSpPr>
          <p:cNvPr name="AutoShape 14" id="14"/>
          <p:cNvSpPr/>
          <p:nvPr/>
        </p:nvSpPr>
        <p:spPr>
          <a:xfrm rot="12540">
            <a:off x="11978240" y="8224838"/>
            <a:ext cx="5231168" cy="0"/>
          </a:xfrm>
          <a:prstGeom prst="line">
            <a:avLst/>
          </a:prstGeom>
          <a:ln cap="rnd" w="9525">
            <a:solidFill>
              <a:srgbClr val="2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1987784" y="8384667"/>
            <a:ext cx="685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B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42164" y="8384667"/>
            <a:ext cx="438912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ROI is checked at the end, if at all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802005"/>
            <a:ext cx="12344400" cy="173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4"/>
              </a:lnSpc>
            </a:pPr>
            <a:r>
              <a:rPr lang="en-US" sz="60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don't transform everything.</a:t>
            </a:r>
          </a:p>
          <a:p>
            <a:pPr algn="l">
              <a:lnSpc>
                <a:spcPts val="6624"/>
              </a:lnSpc>
            </a:pPr>
            <a:r>
              <a:rPr lang="en-US" sz="60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cut it into use cases.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3108198"/>
            <a:ext cx="19202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6E6B66"/>
                </a:solidFill>
                <a:latin typeface="Arial Bold"/>
                <a:ea typeface="Arial Bold"/>
                <a:cs typeface="Arial Bold"/>
                <a:sym typeface="Arial Bold"/>
              </a:rPr>
              <a:t>TRADITIONAL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2960" y="4479798"/>
            <a:ext cx="19202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DBIM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33675" y="3007995"/>
            <a:ext cx="12637770" cy="567690"/>
            <a:chOff x="0" y="0"/>
            <a:chExt cx="16850360" cy="756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50361" cy="756920"/>
            </a:xfrm>
            <a:custGeom>
              <a:avLst/>
              <a:gdLst/>
              <a:ahLst/>
              <a:cxnLst/>
              <a:rect r="r" b="b" t="t" l="l"/>
              <a:pathLst>
                <a:path h="756920" w="16850361">
                  <a:moveTo>
                    <a:pt x="0" y="0"/>
                  </a:moveTo>
                  <a:lnTo>
                    <a:pt x="16850361" y="0"/>
                  </a:lnTo>
                  <a:lnTo>
                    <a:pt x="16850361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B5B2AC"/>
            </a:solidFill>
            <a:ln w="19050" cap="sq">
              <a:solidFill>
                <a:srgbClr val="B5B2AC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555754" y="2978182"/>
            <a:ext cx="627316" cy="627316"/>
            <a:chOff x="0" y="0"/>
            <a:chExt cx="836422" cy="8364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6422" cy="836422"/>
            </a:xfrm>
            <a:custGeom>
              <a:avLst/>
              <a:gdLst/>
              <a:ahLst/>
              <a:cxnLst/>
              <a:rect r="r" b="b" t="t" l="l"/>
              <a:pathLst>
                <a:path h="836422" w="836422">
                  <a:moveTo>
                    <a:pt x="0" y="418211"/>
                  </a:moveTo>
                  <a:cubicBezTo>
                    <a:pt x="0" y="187198"/>
                    <a:pt x="187198" y="0"/>
                    <a:pt x="418211" y="0"/>
                  </a:cubicBezTo>
                  <a:cubicBezTo>
                    <a:pt x="649224" y="0"/>
                    <a:pt x="836422" y="187198"/>
                    <a:pt x="836422" y="418211"/>
                  </a:cubicBezTo>
                  <a:cubicBezTo>
                    <a:pt x="836422" y="649224"/>
                    <a:pt x="649224" y="836422"/>
                    <a:pt x="418211" y="836422"/>
                  </a:cubicBezTo>
                  <a:cubicBezTo>
                    <a:pt x="187198" y="836422"/>
                    <a:pt x="0" y="649224"/>
                    <a:pt x="0" y="418211"/>
                  </a:cubicBezTo>
                  <a:close/>
                </a:path>
              </a:pathLst>
            </a:custGeom>
            <a:solidFill>
              <a:srgbClr val="EFECE7"/>
            </a:solidFill>
            <a:ln w="23812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567660" y="2990088"/>
            <a:ext cx="603504" cy="603504"/>
            <a:chOff x="0" y="0"/>
            <a:chExt cx="804672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04672" cy="823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?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22040" y="2990088"/>
            <a:ext cx="1165860" cy="603504"/>
            <a:chOff x="0" y="0"/>
            <a:chExt cx="1554480" cy="80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4480" cy="804672"/>
            </a:xfrm>
            <a:custGeom>
              <a:avLst/>
              <a:gdLst/>
              <a:ahLst/>
              <a:cxnLst/>
              <a:rect r="r" b="b" t="t" l="l"/>
              <a:pathLst>
                <a:path h="804672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415" t="0" r="-16415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554480" cy="8237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6B66"/>
                  </a:solidFill>
                  <a:latin typeface="Arial"/>
                  <a:ea typeface="Arial"/>
                  <a:cs typeface="Arial"/>
                  <a:sym typeface="Arial"/>
                </a:rPr>
                <a:t>ROI, if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E6B66"/>
                  </a:solidFill>
                  <a:latin typeface="Arial"/>
                  <a:ea typeface="Arial"/>
                  <a:cs typeface="Arial"/>
                  <a:sym typeface="Arial"/>
                </a:rPr>
                <a:t>measured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33675" y="4379595"/>
            <a:ext cx="2476957" cy="567690"/>
            <a:chOff x="0" y="0"/>
            <a:chExt cx="3302610" cy="756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02635" cy="756920"/>
            </a:xfrm>
            <a:custGeom>
              <a:avLst/>
              <a:gdLst/>
              <a:ahLst/>
              <a:cxnLst/>
              <a:rect r="r" b="b" t="t" l="l"/>
              <a:pathLst>
                <a:path h="756920" w="3302635">
                  <a:moveTo>
                    <a:pt x="0" y="0"/>
                  </a:moveTo>
                  <a:lnTo>
                    <a:pt x="3302635" y="0"/>
                  </a:lnTo>
                  <a:lnTo>
                    <a:pt x="3302635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82E2CE"/>
            </a:solidFill>
            <a:ln w="19050" cap="sq">
              <a:solidFill>
                <a:srgbClr val="82E2C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743200" y="4389120"/>
            <a:ext cx="2457907" cy="548640"/>
            <a:chOff x="0" y="0"/>
            <a:chExt cx="327721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77210" cy="731520"/>
            </a:xfrm>
            <a:custGeom>
              <a:avLst/>
              <a:gdLst/>
              <a:ahLst/>
              <a:cxnLst/>
              <a:rect r="r" b="b" t="t" l="l"/>
              <a:pathLst>
                <a:path h="731520" w="3277210">
                  <a:moveTo>
                    <a:pt x="0" y="0"/>
                  </a:moveTo>
                  <a:lnTo>
                    <a:pt x="3277210" y="0"/>
                  </a:lnTo>
                  <a:lnTo>
                    <a:pt x="32772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27721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299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8–10 WKS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013274" y="5024247"/>
            <a:ext cx="211074" cy="211074"/>
            <a:chOff x="0" y="0"/>
            <a:chExt cx="281432" cy="2814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273878" y="4379595"/>
            <a:ext cx="2476957" cy="567690"/>
            <a:chOff x="0" y="0"/>
            <a:chExt cx="3302610" cy="756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02635" cy="756920"/>
            </a:xfrm>
            <a:custGeom>
              <a:avLst/>
              <a:gdLst/>
              <a:ahLst/>
              <a:cxnLst/>
              <a:rect r="r" b="b" t="t" l="l"/>
              <a:pathLst>
                <a:path h="756920" w="3302635">
                  <a:moveTo>
                    <a:pt x="0" y="0"/>
                  </a:moveTo>
                  <a:lnTo>
                    <a:pt x="3302635" y="0"/>
                  </a:lnTo>
                  <a:lnTo>
                    <a:pt x="3302635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82E2CE"/>
            </a:solidFill>
            <a:ln w="19050" cap="sq">
              <a:solidFill>
                <a:srgbClr val="82E2C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283403" y="4389120"/>
            <a:ext cx="2457907" cy="548640"/>
            <a:chOff x="0" y="0"/>
            <a:chExt cx="327721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77210" cy="731520"/>
            </a:xfrm>
            <a:custGeom>
              <a:avLst/>
              <a:gdLst/>
              <a:ahLst/>
              <a:cxnLst/>
              <a:rect r="r" b="b" t="t" l="l"/>
              <a:pathLst>
                <a:path h="731520" w="3277210">
                  <a:moveTo>
                    <a:pt x="0" y="0"/>
                  </a:moveTo>
                  <a:lnTo>
                    <a:pt x="3277210" y="0"/>
                  </a:lnTo>
                  <a:lnTo>
                    <a:pt x="32772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27721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299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8–10 WKS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553477" y="5024247"/>
            <a:ext cx="211074" cy="211074"/>
            <a:chOff x="0" y="0"/>
            <a:chExt cx="281432" cy="2814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814081" y="4379595"/>
            <a:ext cx="2476957" cy="567690"/>
            <a:chOff x="0" y="0"/>
            <a:chExt cx="3302610" cy="756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02635" cy="756920"/>
            </a:xfrm>
            <a:custGeom>
              <a:avLst/>
              <a:gdLst/>
              <a:ahLst/>
              <a:cxnLst/>
              <a:rect r="r" b="b" t="t" l="l"/>
              <a:pathLst>
                <a:path h="756920" w="3302635">
                  <a:moveTo>
                    <a:pt x="0" y="0"/>
                  </a:moveTo>
                  <a:lnTo>
                    <a:pt x="3302635" y="0"/>
                  </a:lnTo>
                  <a:lnTo>
                    <a:pt x="3302635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82E2CE"/>
            </a:solidFill>
            <a:ln w="19050" cap="sq">
              <a:solidFill>
                <a:srgbClr val="82E2C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7823606" y="4389120"/>
            <a:ext cx="2457907" cy="548640"/>
            <a:chOff x="0" y="0"/>
            <a:chExt cx="327721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77210" cy="731520"/>
            </a:xfrm>
            <a:custGeom>
              <a:avLst/>
              <a:gdLst/>
              <a:ahLst/>
              <a:cxnLst/>
              <a:rect r="r" b="b" t="t" l="l"/>
              <a:pathLst>
                <a:path h="731520" w="3277210">
                  <a:moveTo>
                    <a:pt x="0" y="0"/>
                  </a:moveTo>
                  <a:lnTo>
                    <a:pt x="3277210" y="0"/>
                  </a:lnTo>
                  <a:lnTo>
                    <a:pt x="32772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327721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299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8–10 WKS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93681" y="5024247"/>
            <a:ext cx="211074" cy="211074"/>
            <a:chOff x="0" y="0"/>
            <a:chExt cx="281432" cy="2814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354285" y="4379595"/>
            <a:ext cx="2476957" cy="567690"/>
            <a:chOff x="0" y="0"/>
            <a:chExt cx="3302610" cy="7569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302635" cy="756920"/>
            </a:xfrm>
            <a:custGeom>
              <a:avLst/>
              <a:gdLst/>
              <a:ahLst/>
              <a:cxnLst/>
              <a:rect r="r" b="b" t="t" l="l"/>
              <a:pathLst>
                <a:path h="756920" w="3302635">
                  <a:moveTo>
                    <a:pt x="0" y="0"/>
                  </a:moveTo>
                  <a:lnTo>
                    <a:pt x="3302635" y="0"/>
                  </a:lnTo>
                  <a:lnTo>
                    <a:pt x="3302635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82E2CE"/>
            </a:solidFill>
            <a:ln w="19050" cap="sq">
              <a:solidFill>
                <a:srgbClr val="82E2CE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363810" y="4389120"/>
            <a:ext cx="2457907" cy="548640"/>
            <a:chOff x="0" y="0"/>
            <a:chExt cx="327721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77210" cy="731520"/>
            </a:xfrm>
            <a:custGeom>
              <a:avLst/>
              <a:gdLst/>
              <a:ahLst/>
              <a:cxnLst/>
              <a:rect r="r" b="b" t="t" l="l"/>
              <a:pathLst>
                <a:path h="731520" w="3277210">
                  <a:moveTo>
                    <a:pt x="0" y="0"/>
                  </a:moveTo>
                  <a:lnTo>
                    <a:pt x="3277210" y="0"/>
                  </a:lnTo>
                  <a:lnTo>
                    <a:pt x="32772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327721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299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8–10 WKS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633884" y="5024247"/>
            <a:ext cx="211074" cy="211074"/>
            <a:chOff x="0" y="0"/>
            <a:chExt cx="281432" cy="2814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894488" y="4379595"/>
            <a:ext cx="2476957" cy="567690"/>
            <a:chOff x="0" y="0"/>
            <a:chExt cx="3302610" cy="7569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02635" cy="756920"/>
            </a:xfrm>
            <a:custGeom>
              <a:avLst/>
              <a:gdLst/>
              <a:ahLst/>
              <a:cxnLst/>
              <a:rect r="r" b="b" t="t" l="l"/>
              <a:pathLst>
                <a:path h="756920" w="3302635">
                  <a:moveTo>
                    <a:pt x="0" y="0"/>
                  </a:moveTo>
                  <a:lnTo>
                    <a:pt x="3302635" y="0"/>
                  </a:lnTo>
                  <a:lnTo>
                    <a:pt x="3302635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82E2CE"/>
            </a:solidFill>
            <a:ln w="19050" cap="sq">
              <a:solidFill>
                <a:srgbClr val="82E2C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904013" y="4389120"/>
            <a:ext cx="2457907" cy="548640"/>
            <a:chOff x="0" y="0"/>
            <a:chExt cx="327721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77210" cy="731520"/>
            </a:xfrm>
            <a:custGeom>
              <a:avLst/>
              <a:gdLst/>
              <a:ahLst/>
              <a:cxnLst/>
              <a:rect r="r" b="b" t="t" l="l"/>
              <a:pathLst>
                <a:path h="731520" w="3277210">
                  <a:moveTo>
                    <a:pt x="0" y="0"/>
                  </a:moveTo>
                  <a:lnTo>
                    <a:pt x="3277210" y="0"/>
                  </a:lnTo>
                  <a:lnTo>
                    <a:pt x="32772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92" r="0" b="-3729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327721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 spc="299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8–10 WKS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174087" y="5024247"/>
            <a:ext cx="211074" cy="211074"/>
            <a:chOff x="0" y="0"/>
            <a:chExt cx="281432" cy="2814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2665095" y="5065395"/>
            <a:ext cx="211074" cy="211074"/>
            <a:chOff x="0" y="0"/>
            <a:chExt cx="281432" cy="2814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lnTo>
                    <a:pt x="140716" y="0"/>
                  </a:lnTo>
                  <a:lnTo>
                    <a:pt x="281432" y="140716"/>
                  </a:lnTo>
                  <a:lnTo>
                    <a:pt x="140716" y="281432"/>
                  </a:ln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2948940" y="5014722"/>
            <a:ext cx="34290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KPIs set on day one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481560" y="5330190"/>
            <a:ext cx="507492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ROI checked every cycle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22960" y="6317742"/>
            <a:ext cx="4800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6E6B66"/>
                </a:solidFill>
                <a:latin typeface="Arial Bold"/>
                <a:ea typeface="Arial Bold"/>
                <a:cs typeface="Arial Bold"/>
                <a:sym typeface="Arial Bold"/>
              </a:rPr>
              <a:t>TRADITIONAL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035040" y="6317742"/>
            <a:ext cx="4800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DBIM</a:t>
            </a:r>
          </a:p>
        </p:txBody>
      </p:sp>
      <p:sp>
        <p:nvSpPr>
          <p:cNvPr name="AutoShape 56" id="56"/>
          <p:cNvSpPr/>
          <p:nvPr/>
        </p:nvSpPr>
        <p:spPr>
          <a:xfrm rot="4380">
            <a:off x="815816" y="6784657"/>
            <a:ext cx="1126141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7" id="57"/>
          <p:cNvSpPr txBox="true"/>
          <p:nvPr/>
        </p:nvSpPr>
        <p:spPr>
          <a:xfrm rot="0">
            <a:off x="822960" y="6944487"/>
            <a:ext cx="493776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Tech-led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035040" y="6944487"/>
            <a:ext cx="60350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Business-first</a:t>
            </a:r>
          </a:p>
        </p:txBody>
      </p:sp>
      <p:sp>
        <p:nvSpPr>
          <p:cNvPr name="AutoShape 59" id="59"/>
          <p:cNvSpPr/>
          <p:nvPr/>
        </p:nvSpPr>
        <p:spPr>
          <a:xfrm rot="4380">
            <a:off x="815816" y="7470457"/>
            <a:ext cx="1126141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822960" y="7630287"/>
            <a:ext cx="493776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Success = go-live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035040" y="7630287"/>
            <a:ext cx="60350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Success = outcome + ROI</a:t>
            </a:r>
          </a:p>
        </p:txBody>
      </p:sp>
      <p:sp>
        <p:nvSpPr>
          <p:cNvPr name="AutoShape 62" id="62"/>
          <p:cNvSpPr/>
          <p:nvPr/>
        </p:nvSpPr>
        <p:spPr>
          <a:xfrm rot="4380">
            <a:off x="815816" y="8156257"/>
            <a:ext cx="1126141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3" id="63"/>
          <p:cNvSpPr txBox="true"/>
          <p:nvPr/>
        </p:nvSpPr>
        <p:spPr>
          <a:xfrm rot="0">
            <a:off x="822960" y="8316087"/>
            <a:ext cx="493776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Vague timelines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035040" y="8316087"/>
            <a:ext cx="60350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Fixed 8–10 weeks</a:t>
            </a:r>
          </a:p>
        </p:txBody>
      </p:sp>
      <p:sp>
        <p:nvSpPr>
          <p:cNvPr name="AutoShape 65" id="65"/>
          <p:cNvSpPr/>
          <p:nvPr/>
        </p:nvSpPr>
        <p:spPr>
          <a:xfrm rot="4380">
            <a:off x="815816" y="8842057"/>
            <a:ext cx="1126141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6" id="66"/>
          <p:cNvSpPr txBox="true"/>
          <p:nvPr/>
        </p:nvSpPr>
        <p:spPr>
          <a:xfrm rot="0">
            <a:off x="822960" y="9001887"/>
            <a:ext cx="493776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KPIs at the end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035040" y="9001887"/>
            <a:ext cx="60350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KPIs from day one</a:t>
            </a:r>
          </a:p>
        </p:txBody>
      </p:sp>
      <p:sp>
        <p:nvSpPr>
          <p:cNvPr name="AutoShape 68" id="68"/>
          <p:cNvSpPr/>
          <p:nvPr/>
        </p:nvSpPr>
        <p:spPr>
          <a:xfrm rot="1621860">
            <a:off x="814102" y="9527857"/>
            <a:ext cx="31442" cy="0"/>
          </a:xfrm>
          <a:prstGeom prst="line">
            <a:avLst/>
          </a:prstGeom>
          <a:ln cap="rnd" w="9525">
            <a:solidFill>
              <a:srgbClr val="EFECE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13020675" y="6327267"/>
            <a:ext cx="4449318" cy="2556510"/>
            <a:chOff x="0" y="0"/>
            <a:chExt cx="5932424" cy="34086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932424" cy="3408680"/>
            </a:xfrm>
            <a:custGeom>
              <a:avLst/>
              <a:gdLst/>
              <a:ahLst/>
              <a:cxnLst/>
              <a:rect r="r" b="b" t="t" l="l"/>
              <a:pathLst>
                <a:path h="3408680" w="5932424">
                  <a:moveTo>
                    <a:pt x="0" y="0"/>
                  </a:moveTo>
                  <a:lnTo>
                    <a:pt x="5932424" y="0"/>
                  </a:lnTo>
                  <a:lnTo>
                    <a:pt x="5932424" y="3408680"/>
                  </a:lnTo>
                  <a:lnTo>
                    <a:pt x="0" y="3408680"/>
                  </a:lnTo>
                  <a:close/>
                </a:path>
              </a:pathLst>
            </a:custGeom>
            <a:solidFill>
              <a:srgbClr val="82E2CE"/>
            </a:solidFill>
            <a:ln w="19050" cap="sq">
              <a:solidFill>
                <a:srgbClr val="82E2CE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13373100" y="6592062"/>
            <a:ext cx="38404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USE CASE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373100" y="7082790"/>
            <a:ext cx="3771900" cy="162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7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discrete, high-impact opportunity tied to a specific business goal.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676120" y="9582150"/>
            <a:ext cx="278434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 spc="449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802005"/>
            <a:ext cx="13716000" cy="173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1"/>
              </a:lnSpc>
            </a:pPr>
            <a:r>
              <a:rPr lang="en-US" sz="54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three stages. a bank on one side,</a:t>
            </a:r>
          </a:p>
          <a:p>
            <a:pPr algn="l">
              <a:lnSpc>
                <a:spcPts val="5961"/>
              </a:lnSpc>
            </a:pPr>
            <a:r>
              <a:rPr lang="en-US" sz="54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marketplace on the other.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2929890"/>
            <a:ext cx="31546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8D8A85"/>
                </a:solidFill>
                <a:latin typeface="Arial Bold"/>
                <a:ea typeface="Arial Bold"/>
                <a:cs typeface="Arial Bold"/>
                <a:sym typeface="Arial Bold"/>
              </a:rPr>
              <a:t>USE CASE BANK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87552" y="3429000"/>
            <a:ext cx="2880360" cy="576072"/>
            <a:chOff x="0" y="0"/>
            <a:chExt cx="38404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0480" cy="768096"/>
            </a:xfrm>
            <a:custGeom>
              <a:avLst/>
              <a:gdLst/>
              <a:ahLst/>
              <a:cxnLst/>
              <a:rect r="r" b="b" t="t" l="l"/>
              <a:pathLst>
                <a:path h="76809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8404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9B6B0"/>
                  </a:solidFill>
                  <a:latin typeface="Arial"/>
                  <a:ea typeface="Arial"/>
                  <a:cs typeface="Arial"/>
                  <a:sym typeface="Arial"/>
                </a:rPr>
                <a:t>Fraud detection</a:t>
              </a:r>
            </a:p>
          </p:txBody>
        </p:sp>
      </p:grpSp>
      <p:sp>
        <p:nvSpPr>
          <p:cNvPr name="AutoShape 7" id="7"/>
          <p:cNvSpPr/>
          <p:nvPr/>
        </p:nvSpPr>
        <p:spPr>
          <a:xfrm rot="15480">
            <a:off x="815797" y="4055174"/>
            <a:ext cx="3168996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13435" y="4105275"/>
            <a:ext cx="3173730" cy="595122"/>
            <a:chOff x="0" y="0"/>
            <a:chExt cx="4231640" cy="7934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31640" cy="793496"/>
            </a:xfrm>
            <a:custGeom>
              <a:avLst/>
              <a:gdLst/>
              <a:ahLst/>
              <a:cxnLst/>
              <a:rect r="r" b="b" t="t" l="l"/>
              <a:pathLst>
                <a:path h="793496" w="4231640">
                  <a:moveTo>
                    <a:pt x="0" y="0"/>
                  </a:moveTo>
                  <a:lnTo>
                    <a:pt x="4231640" y="0"/>
                  </a:lnTo>
                  <a:lnTo>
                    <a:pt x="4231640" y="793496"/>
                  </a:lnTo>
                  <a:lnTo>
                    <a:pt x="0" y="793496"/>
                  </a:lnTo>
                  <a:close/>
                </a:path>
              </a:pathLst>
            </a:custGeom>
            <a:solidFill>
              <a:srgbClr val="82E2CE"/>
            </a:solidFill>
            <a:ln w="19050" cap="sq">
              <a:solidFill>
                <a:srgbClr val="82E2C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87552" y="4114800"/>
            <a:ext cx="2880360" cy="576072"/>
            <a:chOff x="0" y="0"/>
            <a:chExt cx="3840480" cy="7680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40480" cy="768096"/>
            </a:xfrm>
            <a:custGeom>
              <a:avLst/>
              <a:gdLst/>
              <a:ahLst/>
              <a:cxnLst/>
              <a:rect r="r" b="b" t="t" l="l"/>
              <a:pathLst>
                <a:path h="76809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8404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Sentiment analysis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7552" y="4800600"/>
            <a:ext cx="2880360" cy="576072"/>
            <a:chOff x="0" y="0"/>
            <a:chExt cx="384048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40480" cy="768096"/>
            </a:xfrm>
            <a:custGeom>
              <a:avLst/>
              <a:gdLst/>
              <a:ahLst/>
              <a:cxnLst/>
              <a:rect r="r" b="b" t="t" l="l"/>
              <a:pathLst>
                <a:path h="76809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38404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9B6B0"/>
                  </a:solidFill>
                  <a:latin typeface="Arial"/>
                  <a:ea typeface="Arial"/>
                  <a:cs typeface="Arial"/>
                  <a:sym typeface="Arial"/>
                </a:rPr>
                <a:t>Robo-advisor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15480">
            <a:off x="815797" y="5426774"/>
            <a:ext cx="3168996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987552" y="5486400"/>
            <a:ext cx="2880360" cy="576072"/>
            <a:chOff x="0" y="0"/>
            <a:chExt cx="384048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40480" cy="768096"/>
            </a:xfrm>
            <a:custGeom>
              <a:avLst/>
              <a:gdLst/>
              <a:ahLst/>
              <a:cxnLst/>
              <a:rect r="r" b="b" t="t" l="l"/>
              <a:pathLst>
                <a:path h="76809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8404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B9B6B0"/>
                  </a:solidFill>
                  <a:latin typeface="Arial"/>
                  <a:ea typeface="Arial"/>
                  <a:cs typeface="Arial"/>
                  <a:sym typeface="Arial"/>
                </a:rPr>
                <a:t>Automated KYC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15480">
            <a:off x="815797" y="6112574"/>
            <a:ext cx="3168996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822960" y="6358890"/>
            <a:ext cx="315468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i="true">
                <a:solidFill>
                  <a:srgbClr val="8D8A85"/>
                </a:solidFill>
                <a:latin typeface="Arial Italics"/>
                <a:ea typeface="Arial Italics"/>
                <a:cs typeface="Arial Italics"/>
                <a:sym typeface="Arial Italics"/>
              </a:rPr>
              <a:t>Highlighted: sentiment analysis, the use case we follow through all three stages.</a:t>
            </a:r>
          </a:p>
        </p:txBody>
      </p:sp>
      <p:sp>
        <p:nvSpPr>
          <p:cNvPr name="AutoShape 22" id="22"/>
          <p:cNvSpPr/>
          <p:nvPr/>
        </p:nvSpPr>
        <p:spPr>
          <a:xfrm rot="5389500">
            <a:off x="1913087" y="5275897"/>
            <a:ext cx="4677747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4594860" y="2929890"/>
            <a:ext cx="31546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82E2CE"/>
                </a:solidFill>
                <a:latin typeface="Arial Bold"/>
                <a:ea typeface="Arial Bold"/>
                <a:cs typeface="Arial Bold"/>
                <a:sym typeface="Arial Bold"/>
              </a:rPr>
              <a:t>STAGE 1  ·  FILTER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94860" y="3438525"/>
            <a:ext cx="288036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 Case Management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94860" y="4781550"/>
            <a:ext cx="2880360" cy="248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Discovery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Rationalization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Enrichment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Prioritization</a:t>
            </a:r>
          </a:p>
        </p:txBody>
      </p:sp>
      <p:sp>
        <p:nvSpPr>
          <p:cNvPr name="AutoShape 26" id="26"/>
          <p:cNvSpPr/>
          <p:nvPr/>
        </p:nvSpPr>
        <p:spPr>
          <a:xfrm rot="5389500">
            <a:off x="5479247" y="5275897"/>
            <a:ext cx="4677747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8161020" y="2929890"/>
            <a:ext cx="31546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82E2CE"/>
                </a:solidFill>
                <a:latin typeface="Arial Bold"/>
                <a:ea typeface="Arial Bold"/>
                <a:cs typeface="Arial Bold"/>
                <a:sym typeface="Arial Bold"/>
              </a:rPr>
              <a:t>STAGE 2  ·  DELIVER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61020" y="3438525"/>
            <a:ext cx="288036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Development &amp; Orchestration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1020" y="4781550"/>
            <a:ext cx="2880360" cy="248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Define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Develop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</a:p>
        </p:txBody>
      </p:sp>
      <p:sp>
        <p:nvSpPr>
          <p:cNvPr name="AutoShape 30" id="30"/>
          <p:cNvSpPr/>
          <p:nvPr/>
        </p:nvSpPr>
        <p:spPr>
          <a:xfrm rot="5389500">
            <a:off x="9045407" y="5275897"/>
            <a:ext cx="4677747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1727180" y="2929890"/>
            <a:ext cx="31546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82E2CE"/>
                </a:solidFill>
                <a:latin typeface="Arial Bold"/>
                <a:ea typeface="Arial Bold"/>
                <a:cs typeface="Arial Bold"/>
                <a:sym typeface="Arial Bold"/>
              </a:rPr>
              <a:t>STAGE 3  ·  MULTIPLY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27180" y="3438525"/>
            <a:ext cx="288036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Productization &amp; Scale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27180" y="4781550"/>
            <a:ext cx="2880360" cy="248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Pilot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Customize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Track ROI</a:t>
            </a:r>
          </a:p>
        </p:txBody>
      </p:sp>
      <p:sp>
        <p:nvSpPr>
          <p:cNvPr name="AutoShape 34" id="34"/>
          <p:cNvSpPr/>
          <p:nvPr/>
        </p:nvSpPr>
        <p:spPr>
          <a:xfrm rot="5389500">
            <a:off x="12954467" y="5275897"/>
            <a:ext cx="4677747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15636240" y="2929890"/>
            <a:ext cx="197970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8D8A85"/>
                </a:solidFill>
                <a:latin typeface="Arial Bold"/>
                <a:ea typeface="Arial Bold"/>
                <a:cs typeface="Arial Bold"/>
                <a:sym typeface="Arial Bold"/>
              </a:rPr>
              <a:t>MARKETPLACE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636240" y="3438525"/>
            <a:ext cx="185166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Internal, then Global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636240" y="4781550"/>
            <a:ext cx="185166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Reusable assets go out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13435" y="8014335"/>
            <a:ext cx="16656558" cy="773430"/>
            <a:chOff x="0" y="0"/>
            <a:chExt cx="22208744" cy="1031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208744" cy="1031240"/>
            </a:xfrm>
            <a:custGeom>
              <a:avLst/>
              <a:gdLst/>
              <a:ahLst/>
              <a:cxnLst/>
              <a:rect r="r" b="b" t="t" l="l"/>
              <a:pathLst>
                <a:path h="103124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031240"/>
                  </a:lnTo>
                  <a:lnTo>
                    <a:pt x="0" y="1031240"/>
                  </a:ln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82E2C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8023860"/>
            <a:ext cx="16637508" cy="754380"/>
            <a:chOff x="0" y="0"/>
            <a:chExt cx="22183344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833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9733" r="0" b="-37973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2183344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900">
                  <a:solidFill>
                    <a:srgbClr val="82E2C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GOVERNANCE &amp; SECURITY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4676120" y="9582150"/>
            <a:ext cx="278434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 spc="449">
                <a:solidFill>
                  <a:srgbClr val="8D8A85"/>
                </a:solidFill>
                <a:latin typeface="Arial"/>
                <a:ea typeface="Arial"/>
                <a:cs typeface="Arial"/>
                <a:sym typeface="Arial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821055"/>
            <a:ext cx="9601200" cy="171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6"/>
              </a:lnSpc>
            </a:pPr>
            <a:r>
              <a:rPr lang="en-US" sz="66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four ideas in.</a:t>
            </a:r>
          </a:p>
          <a:p>
            <a:pPr algn="l">
              <a:lnSpc>
                <a:spcPts val="7286"/>
              </a:lnSpc>
            </a:pPr>
            <a:r>
              <a:rPr lang="en-US" sz="66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gets built.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97580" y="2939415"/>
            <a:ext cx="20574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300">
                <a:solidFill>
                  <a:srgbClr val="6E6B66"/>
                </a:solidFill>
                <a:latin typeface="Arial Bold"/>
                <a:ea typeface="Arial Bold"/>
                <a:cs typeface="Arial Bold"/>
                <a:sym typeface="Arial Bold"/>
              </a:rPr>
              <a:t>DISCOVERY</a:t>
            </a:r>
          </a:p>
        </p:txBody>
      </p:sp>
      <p:sp>
        <p:nvSpPr>
          <p:cNvPr name="AutoShape 4" id="4"/>
          <p:cNvSpPr/>
          <p:nvPr/>
        </p:nvSpPr>
        <p:spPr>
          <a:xfrm rot="5392080">
            <a:off x="2464108" y="5481638"/>
            <a:ext cx="4124335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623560" y="2939415"/>
            <a:ext cx="20574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300">
                <a:solidFill>
                  <a:srgbClr val="6E6B66"/>
                </a:solidFill>
                <a:latin typeface="Arial Bold"/>
                <a:ea typeface="Arial Bold"/>
                <a:cs typeface="Arial Bold"/>
                <a:sym typeface="Arial Bold"/>
              </a:rPr>
              <a:t>RATIONALIZATION</a:t>
            </a:r>
          </a:p>
        </p:txBody>
      </p:sp>
      <p:sp>
        <p:nvSpPr>
          <p:cNvPr name="AutoShape 6" id="6"/>
          <p:cNvSpPr/>
          <p:nvPr/>
        </p:nvSpPr>
        <p:spPr>
          <a:xfrm rot="5392080">
            <a:off x="4590088" y="5481638"/>
            <a:ext cx="4124335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7749540" y="2939415"/>
            <a:ext cx="20574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300">
                <a:solidFill>
                  <a:srgbClr val="6E6B66"/>
                </a:solidFill>
                <a:latin typeface="Arial Bold"/>
                <a:ea typeface="Arial Bold"/>
                <a:cs typeface="Arial Bold"/>
                <a:sym typeface="Arial Bold"/>
              </a:rPr>
              <a:t>ENRICHMENT</a:t>
            </a:r>
          </a:p>
        </p:txBody>
      </p:sp>
      <p:sp>
        <p:nvSpPr>
          <p:cNvPr name="AutoShape 8" id="8"/>
          <p:cNvSpPr/>
          <p:nvPr/>
        </p:nvSpPr>
        <p:spPr>
          <a:xfrm rot="5392080">
            <a:off x="6716068" y="5481638"/>
            <a:ext cx="4124335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875520" y="2939415"/>
            <a:ext cx="20574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b="true" sz="1125" spc="300">
                <a:solidFill>
                  <a:srgbClr val="6E6B66"/>
                </a:solidFill>
                <a:latin typeface="Arial Bold"/>
                <a:ea typeface="Arial Bold"/>
                <a:cs typeface="Arial Bold"/>
                <a:sym typeface="Arial Bold"/>
              </a:rPr>
              <a:t>PRIORITIZATION</a:t>
            </a:r>
          </a:p>
        </p:txBody>
      </p:sp>
      <p:sp>
        <p:nvSpPr>
          <p:cNvPr name="AutoShape 10" id="10"/>
          <p:cNvSpPr/>
          <p:nvPr/>
        </p:nvSpPr>
        <p:spPr>
          <a:xfrm rot="5392080">
            <a:off x="8842048" y="5481638"/>
            <a:ext cx="4124335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822960" y="3922776"/>
            <a:ext cx="3291840" cy="411480"/>
            <a:chOff x="0" y="0"/>
            <a:chExt cx="438912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3891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Fraud detection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14100">
            <a:off x="3963324" y="4105275"/>
            <a:ext cx="6955212" cy="0"/>
          </a:xfrm>
          <a:prstGeom prst="line">
            <a:avLst/>
          </a:prstGeom>
          <a:ln cap="rnd" w="19050">
            <a:solidFill>
              <a:srgbClr val="8C89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420743" y="4009263"/>
            <a:ext cx="211074" cy="211074"/>
            <a:chOff x="0" y="0"/>
            <a:chExt cx="281432" cy="2814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46723" y="4009263"/>
            <a:ext cx="211074" cy="211074"/>
            <a:chOff x="0" y="0"/>
            <a:chExt cx="281432" cy="2814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672703" y="4009263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798683" y="4009263"/>
            <a:ext cx="211074" cy="211074"/>
            <a:chOff x="0" y="0"/>
            <a:chExt cx="281432" cy="2814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5157216"/>
            <a:ext cx="3291840" cy="411480"/>
            <a:chOff x="0" y="0"/>
            <a:chExt cx="438912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3891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Sentiment analysis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29340">
            <a:off x="3944160" y="5330190"/>
            <a:ext cx="7816501" cy="0"/>
          </a:xfrm>
          <a:prstGeom prst="line">
            <a:avLst/>
          </a:prstGeom>
          <a:ln cap="rnd" w="38100">
            <a:solidFill>
              <a:srgbClr val="3E9E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4420743" y="5243703"/>
            <a:ext cx="211074" cy="211074"/>
            <a:chOff x="0" y="0"/>
            <a:chExt cx="281432" cy="2814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3E9E8A"/>
            </a:solidFill>
            <a:ln w="19050" cap="sq">
              <a:solidFill>
                <a:srgbClr val="3E9E8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546723" y="5243703"/>
            <a:ext cx="211074" cy="211074"/>
            <a:chOff x="0" y="0"/>
            <a:chExt cx="281432" cy="281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3E9E8A"/>
            </a:solidFill>
            <a:ln w="19050" cap="sq">
              <a:solidFill>
                <a:srgbClr val="3E9E8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672703" y="5243703"/>
            <a:ext cx="211074" cy="211074"/>
            <a:chOff x="0" y="0"/>
            <a:chExt cx="281432" cy="2814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3E9E8A"/>
            </a:solidFill>
            <a:ln w="19050" cap="sq">
              <a:solidFill>
                <a:srgbClr val="3E9E8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798683" y="5243703"/>
            <a:ext cx="211074" cy="211074"/>
            <a:chOff x="0" y="0"/>
            <a:chExt cx="281432" cy="2814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3E9E8A"/>
            </a:solidFill>
            <a:ln w="19050" cap="sq">
              <a:solidFill>
                <a:srgbClr val="3E9E8A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1315700" y="4712970"/>
            <a:ext cx="10972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b="true" sz="1425" spc="449">
                <a:solidFill>
                  <a:srgbClr val="134E45"/>
                </a:solidFill>
                <a:latin typeface="Arial Bold"/>
                <a:ea typeface="Arial Bold"/>
                <a:cs typeface="Arial Bold"/>
                <a:sym typeface="Arial Bold"/>
              </a:rPr>
              <a:t>BUILD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22960" y="6391656"/>
            <a:ext cx="3291840" cy="411480"/>
            <a:chOff x="0" y="0"/>
            <a:chExt cx="438912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3891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Robo-advisor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36360">
            <a:off x="3963276" y="6574155"/>
            <a:ext cx="2703347" cy="0"/>
          </a:xfrm>
          <a:prstGeom prst="line">
            <a:avLst/>
          </a:prstGeom>
          <a:ln cap="rnd" w="19050">
            <a:solidFill>
              <a:srgbClr val="8C89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4420743" y="6478143"/>
            <a:ext cx="211074" cy="211074"/>
            <a:chOff x="0" y="0"/>
            <a:chExt cx="281432" cy="2814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446520" y="6309360"/>
            <a:ext cx="411480" cy="548640"/>
            <a:chOff x="0" y="0"/>
            <a:chExt cx="54864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548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×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995160" y="6400038"/>
            <a:ext cx="219456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i="true">
                <a:solidFill>
                  <a:srgbClr val="6E6B66"/>
                </a:solidFill>
                <a:latin typeface="Arial Italics"/>
                <a:ea typeface="Arial Italics"/>
                <a:cs typeface="Arial Italics"/>
                <a:sym typeface="Arial Italics"/>
              </a:rPr>
              <a:t>regulatory risk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22960" y="7626096"/>
            <a:ext cx="3291840" cy="411480"/>
            <a:chOff x="0" y="0"/>
            <a:chExt cx="438912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43891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32323"/>
                  </a:solidFill>
                  <a:latin typeface="Arial"/>
                  <a:ea typeface="Arial"/>
                  <a:cs typeface="Arial"/>
                  <a:sym typeface="Arial"/>
                </a:rPr>
                <a:t>Automated KYC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rot="14100">
            <a:off x="3963324" y="7808595"/>
            <a:ext cx="6955212" cy="0"/>
          </a:xfrm>
          <a:prstGeom prst="line">
            <a:avLst/>
          </a:prstGeom>
          <a:ln cap="rnd" w="19050">
            <a:solidFill>
              <a:srgbClr val="8C89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4420743" y="7712583"/>
            <a:ext cx="211074" cy="211074"/>
            <a:chOff x="0" y="0"/>
            <a:chExt cx="281432" cy="2814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6546723" y="7712583"/>
            <a:ext cx="211074" cy="211074"/>
            <a:chOff x="0" y="0"/>
            <a:chExt cx="281432" cy="28143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672703" y="7712583"/>
            <a:ext cx="211074" cy="211074"/>
            <a:chOff x="0" y="0"/>
            <a:chExt cx="281432" cy="28143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0798683" y="7712583"/>
            <a:ext cx="211074" cy="211074"/>
            <a:chOff x="0" y="0"/>
            <a:chExt cx="281432" cy="28143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822960" y="8700135"/>
            <a:ext cx="96012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6E6B66"/>
                </a:solidFill>
                <a:latin typeface="Arial Italics"/>
                <a:ea typeface="Arial Italics"/>
                <a:cs typeface="Arial Italics"/>
                <a:sym typeface="Arial Italics"/>
              </a:rPr>
              <a:t>At the Use Case Bank: a match means extend it, no match means create new.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030200" y="2929890"/>
            <a:ext cx="43891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6E6B66"/>
                </a:solidFill>
                <a:latin typeface="Arial Bold"/>
                <a:ea typeface="Arial Bold"/>
                <a:cs typeface="Arial Bold"/>
                <a:sym typeface="Arial Bold"/>
              </a:rPr>
              <a:t>PRIORITIZATION  ·  ICE</a:t>
            </a:r>
          </a:p>
        </p:txBody>
      </p:sp>
      <p:graphicFrame>
        <p:nvGraphicFramePr>
          <p:cNvPr name="Table 60" id="60"/>
          <p:cNvGraphicFramePr>
            <a:graphicFrameLocks noGrp="true"/>
          </p:cNvGraphicFramePr>
          <p:nvPr/>
        </p:nvGraphicFramePr>
        <p:xfrm>
          <a:off x="13030200" y="3429000"/>
          <a:ext cx="4400550" cy="2667000"/>
        </p:xfrm>
        <a:graphic>
          <a:graphicData uri="http://schemas.openxmlformats.org/drawingml/2006/table">
            <a:tbl>
              <a:tblPr/>
              <a:tblGrid>
                <a:gridCol w="1552307"/>
                <a:gridCol w="685386"/>
                <a:gridCol w="685386"/>
                <a:gridCol w="685386"/>
                <a:gridCol w="792084"/>
              </a:tblGrid>
              <a:tr h="4839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6E6B6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Idea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6E6B6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6E6B6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6E6B6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6E6B6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Score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3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Fraud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3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KYC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6.3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63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32323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Sentiment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E2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E2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E2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E2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32323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7.7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8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E2CE"/>
                    </a:solidFill>
                  </a:tcPr>
                </a:tc>
              </a:tr>
            </a:tbl>
          </a:graphicData>
        </a:graphic>
      </p:graphicFrame>
      <p:sp>
        <p:nvSpPr>
          <p:cNvPr name="TextBox 61" id="61"/>
          <p:cNvSpPr txBox="true"/>
          <p:nvPr/>
        </p:nvSpPr>
        <p:spPr>
          <a:xfrm rot="0">
            <a:off x="13030200" y="6496050"/>
            <a:ext cx="4430268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i="true">
                <a:solidFill>
                  <a:srgbClr val="6E6B66"/>
                </a:solidFill>
                <a:latin typeface="Arial Italics"/>
                <a:ea typeface="Arial Italics"/>
                <a:cs typeface="Arial Italics"/>
                <a:sym typeface="Arial Italics"/>
              </a:rPr>
              <a:t>Illustrative scores, ours, not from the material. ICE = Impact, Confidence, Ease.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22960" y="9582150"/>
            <a:ext cx="68580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b="true" sz="1275" spc="449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FILTER     </a:t>
            </a:r>
            <a:r>
              <a:rPr lang="en-US" sz="1275" spc="449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DELIVER     MULTIPLY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676120" y="9582150"/>
            <a:ext cx="278434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 spc="449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802005"/>
            <a:ext cx="12344400" cy="173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4"/>
              </a:lnSpc>
            </a:pPr>
            <a:r>
              <a:rPr lang="en-US" sz="60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eight to ten weeks,</a:t>
            </a:r>
          </a:p>
          <a:p>
            <a:pPr algn="l">
              <a:lnSpc>
                <a:spcPts val="6624"/>
              </a:lnSpc>
            </a:pPr>
            <a:r>
              <a:rPr lang="en-US" sz="60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concept to working mvp.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90320" y="676275"/>
            <a:ext cx="347014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134E4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8–10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90320" y="1969770"/>
            <a:ext cx="34701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b="true" sz="1275" spc="449">
                <a:solidFill>
                  <a:srgbClr val="6E6B66"/>
                </a:solidFill>
                <a:latin typeface="Arial Bold"/>
                <a:ea typeface="Arial Bold"/>
                <a:cs typeface="Arial Bold"/>
                <a:sym typeface="Arial Bold"/>
              </a:rPr>
              <a:t>WEEKS, ONE CYCLE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13435" y="2939415"/>
            <a:ext cx="4126992" cy="1322070"/>
            <a:chOff x="0" y="0"/>
            <a:chExt cx="5502656" cy="1762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02656" cy="1762760"/>
            </a:xfrm>
            <a:custGeom>
              <a:avLst/>
              <a:gdLst/>
              <a:ahLst/>
              <a:cxnLst/>
              <a:rect r="r" b="b" t="t" l="l"/>
              <a:pathLst>
                <a:path h="1762760" w="5502656">
                  <a:moveTo>
                    <a:pt x="0" y="0"/>
                  </a:moveTo>
                  <a:lnTo>
                    <a:pt x="5502656" y="0"/>
                  </a:lnTo>
                  <a:lnTo>
                    <a:pt x="5502656" y="1762760"/>
                  </a:lnTo>
                  <a:lnTo>
                    <a:pt x="0" y="1762760"/>
                  </a:lnTo>
                  <a:close/>
                </a:path>
              </a:pathLst>
            </a:custGeom>
            <a:solidFill>
              <a:srgbClr val="82E2CE"/>
            </a:solidFill>
            <a:ln w="19050" cap="sq">
              <a:solidFill>
                <a:srgbClr val="82E2C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97280" y="2948940"/>
            <a:ext cx="3696462" cy="1303020"/>
            <a:chOff x="0" y="0"/>
            <a:chExt cx="4928616" cy="1737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28616" cy="1737360"/>
            </a:xfrm>
            <a:custGeom>
              <a:avLst/>
              <a:gdLst/>
              <a:ahLst/>
              <a:cxnLst/>
              <a:rect r="r" b="b" t="t" l="l"/>
              <a:pathLst>
                <a:path h="1737360" w="4928616">
                  <a:moveTo>
                    <a:pt x="0" y="0"/>
                  </a:moveTo>
                  <a:lnTo>
                    <a:pt x="4928616" y="0"/>
                  </a:lnTo>
                  <a:lnTo>
                    <a:pt x="492861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5" r="0" b="-5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928616" cy="1727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23232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Define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4370070"/>
            <a:ext cx="383362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Requirements, epics and stories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989957" y="2939415"/>
            <a:ext cx="4126992" cy="1322070"/>
            <a:chOff x="0" y="0"/>
            <a:chExt cx="5502656" cy="1762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02656" cy="1762760"/>
            </a:xfrm>
            <a:custGeom>
              <a:avLst/>
              <a:gdLst/>
              <a:ahLst/>
              <a:cxnLst/>
              <a:rect r="r" b="b" t="t" l="l"/>
              <a:pathLst>
                <a:path h="1762760" w="5502656">
                  <a:moveTo>
                    <a:pt x="0" y="0"/>
                  </a:moveTo>
                  <a:lnTo>
                    <a:pt x="5502656" y="0"/>
                  </a:lnTo>
                  <a:lnTo>
                    <a:pt x="5502656" y="1762760"/>
                  </a:lnTo>
                  <a:lnTo>
                    <a:pt x="0" y="1762760"/>
                  </a:lnTo>
                  <a:close/>
                </a:path>
              </a:pathLst>
            </a:custGeom>
            <a:solidFill>
              <a:srgbClr val="5DC4AE"/>
            </a:solidFill>
            <a:ln w="19050" cap="sq">
              <a:solidFill>
                <a:srgbClr val="5DC4A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273802" y="2948940"/>
            <a:ext cx="3696462" cy="1303020"/>
            <a:chOff x="0" y="0"/>
            <a:chExt cx="4928616" cy="1737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28616" cy="1737360"/>
            </a:xfrm>
            <a:custGeom>
              <a:avLst/>
              <a:gdLst/>
              <a:ahLst/>
              <a:cxnLst/>
              <a:rect r="r" b="b" t="t" l="l"/>
              <a:pathLst>
                <a:path h="1737360" w="4928616">
                  <a:moveTo>
                    <a:pt x="0" y="0"/>
                  </a:moveTo>
                  <a:lnTo>
                    <a:pt x="4928616" y="0"/>
                  </a:lnTo>
                  <a:lnTo>
                    <a:pt x="492861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5" r="0" b="-5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4928616" cy="1727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23232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Design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999482" y="4370070"/>
            <a:ext cx="383362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Wireframes, architecture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66479" y="2939415"/>
            <a:ext cx="4126992" cy="1322070"/>
            <a:chOff x="0" y="0"/>
            <a:chExt cx="5502656" cy="1762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02656" cy="1762760"/>
            </a:xfrm>
            <a:custGeom>
              <a:avLst/>
              <a:gdLst/>
              <a:ahLst/>
              <a:cxnLst/>
              <a:rect r="r" b="b" t="t" l="l"/>
              <a:pathLst>
                <a:path h="1762760" w="5502656">
                  <a:moveTo>
                    <a:pt x="0" y="0"/>
                  </a:moveTo>
                  <a:lnTo>
                    <a:pt x="5502656" y="0"/>
                  </a:lnTo>
                  <a:lnTo>
                    <a:pt x="5502656" y="1762760"/>
                  </a:lnTo>
                  <a:lnTo>
                    <a:pt x="0" y="1762760"/>
                  </a:lnTo>
                  <a:close/>
                </a:path>
              </a:pathLst>
            </a:custGeom>
            <a:solidFill>
              <a:srgbClr val="3E9E8A"/>
            </a:solidFill>
            <a:ln w="19050" cap="sq">
              <a:solidFill>
                <a:srgbClr val="3E9E8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450324" y="2948940"/>
            <a:ext cx="3696462" cy="1303020"/>
            <a:chOff x="0" y="0"/>
            <a:chExt cx="4928616" cy="1737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28616" cy="1737360"/>
            </a:xfrm>
            <a:custGeom>
              <a:avLst/>
              <a:gdLst/>
              <a:ahLst/>
              <a:cxnLst/>
              <a:rect r="r" b="b" t="t" l="l"/>
              <a:pathLst>
                <a:path h="1737360" w="4928616">
                  <a:moveTo>
                    <a:pt x="0" y="0"/>
                  </a:moveTo>
                  <a:lnTo>
                    <a:pt x="4928616" y="0"/>
                  </a:lnTo>
                  <a:lnTo>
                    <a:pt x="492861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5" r="0" b="-52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4928616" cy="1727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Develop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76004" y="4370070"/>
            <a:ext cx="383362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Code, data pipelines, CI/CD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343001" y="2939415"/>
            <a:ext cx="4126992" cy="1322070"/>
            <a:chOff x="0" y="0"/>
            <a:chExt cx="5502656" cy="1762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02656" cy="1762760"/>
            </a:xfrm>
            <a:custGeom>
              <a:avLst/>
              <a:gdLst/>
              <a:ahLst/>
              <a:cxnLst/>
              <a:rect r="r" b="b" t="t" l="l"/>
              <a:pathLst>
                <a:path h="1762760" w="5502656">
                  <a:moveTo>
                    <a:pt x="0" y="0"/>
                  </a:moveTo>
                  <a:lnTo>
                    <a:pt x="5502656" y="0"/>
                  </a:lnTo>
                  <a:lnTo>
                    <a:pt x="5502656" y="1762760"/>
                  </a:lnTo>
                  <a:lnTo>
                    <a:pt x="0" y="1762760"/>
                  </a:lnTo>
                  <a:close/>
                </a:path>
              </a:pathLst>
            </a:custGeom>
            <a:solidFill>
              <a:srgbClr val="134E45"/>
            </a:solidFill>
            <a:ln w="19050" cap="sq">
              <a:solidFill>
                <a:srgbClr val="134E4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626846" y="2948940"/>
            <a:ext cx="3696462" cy="1303020"/>
            <a:chOff x="0" y="0"/>
            <a:chExt cx="4928616" cy="1737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28616" cy="1737360"/>
            </a:xfrm>
            <a:custGeom>
              <a:avLst/>
              <a:gdLst/>
              <a:ahLst/>
              <a:cxnLst/>
              <a:rect r="r" b="b" t="t" l="l"/>
              <a:pathLst>
                <a:path h="1737360" w="4928616">
                  <a:moveTo>
                    <a:pt x="0" y="0"/>
                  </a:moveTo>
                  <a:lnTo>
                    <a:pt x="4928616" y="0"/>
                  </a:lnTo>
                  <a:lnTo>
                    <a:pt x="492861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75" r="0" b="-52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4928616" cy="1727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Deploy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352526" y="4370070"/>
            <a:ext cx="3833622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Docker, Kubernetes, Terraform</a:t>
            </a:r>
          </a:p>
        </p:txBody>
      </p:sp>
      <p:sp>
        <p:nvSpPr>
          <p:cNvPr name="AutoShape 29" id="29"/>
          <p:cNvSpPr/>
          <p:nvPr/>
        </p:nvSpPr>
        <p:spPr>
          <a:xfrm rot="3960">
            <a:off x="813425" y="5481638"/>
            <a:ext cx="16656568" cy="0"/>
          </a:xfrm>
          <a:prstGeom prst="line">
            <a:avLst/>
          </a:prstGeom>
          <a:ln cap="rnd" w="9525">
            <a:solidFill>
              <a:srgbClr val="232323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4928235" y="5284851"/>
            <a:ext cx="8426958" cy="403098"/>
            <a:chOff x="0" y="0"/>
            <a:chExt cx="11235944" cy="5374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35944" cy="537464"/>
            </a:xfrm>
            <a:custGeom>
              <a:avLst/>
              <a:gdLst/>
              <a:ahLst/>
              <a:cxnLst/>
              <a:rect r="r" b="b" t="t" l="l"/>
              <a:pathLst>
                <a:path h="537464" w="11235944">
                  <a:moveTo>
                    <a:pt x="0" y="0"/>
                  </a:moveTo>
                  <a:lnTo>
                    <a:pt x="11235944" y="0"/>
                  </a:lnTo>
                  <a:lnTo>
                    <a:pt x="11235944" y="537464"/>
                  </a:lnTo>
                  <a:lnTo>
                    <a:pt x="0" y="537464"/>
                  </a:lnTo>
                  <a:close/>
                </a:path>
              </a:pathLst>
            </a:custGeom>
            <a:solidFill>
              <a:srgbClr val="EFECE7"/>
            </a:solidFill>
            <a:ln w="19050" cap="sq">
              <a:solidFill>
                <a:srgbClr val="EFECE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937760" y="5294376"/>
            <a:ext cx="8407908" cy="384048"/>
            <a:chOff x="0" y="0"/>
            <a:chExt cx="11210544" cy="5120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10544" cy="512064"/>
            </a:xfrm>
            <a:custGeom>
              <a:avLst/>
              <a:gdLst/>
              <a:ahLst/>
              <a:cxnLst/>
              <a:rect r="r" b="b" t="t" l="l"/>
              <a:pathLst>
                <a:path h="512064" w="11210544">
                  <a:moveTo>
                    <a:pt x="0" y="0"/>
                  </a:moveTo>
                  <a:lnTo>
                    <a:pt x="11210544" y="0"/>
                  </a:lnTo>
                  <a:lnTo>
                    <a:pt x="1121054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583" r="0" b="-37658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121054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 spc="449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VALIDATE AGAINST DAY-1 KPIs  →  ENHANCEMENT BACKLOG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22960" y="6290310"/>
            <a:ext cx="8229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6E6B66"/>
                </a:solidFill>
                <a:latin typeface="Arial Bold"/>
                <a:ea typeface="Arial Bold"/>
                <a:cs typeface="Arial Bold"/>
                <a:sym typeface="Arial Bold"/>
              </a:rPr>
              <a:t>THE SANDBOX ENFORCES THE RULES</a:t>
            </a:r>
          </a:p>
        </p:txBody>
      </p:sp>
      <p:sp>
        <p:nvSpPr>
          <p:cNvPr name="AutoShape 36" id="36"/>
          <p:cNvSpPr/>
          <p:nvPr/>
        </p:nvSpPr>
        <p:spPr>
          <a:xfrm rot="4860">
            <a:off x="815807" y="6784657"/>
            <a:ext cx="1016413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822960" y="6944487"/>
            <a:ext cx="384048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Policy template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00600" y="6944487"/>
            <a:ext cx="60350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approved tools only</a:t>
            </a:r>
          </a:p>
        </p:txBody>
      </p:sp>
      <p:sp>
        <p:nvSpPr>
          <p:cNvPr name="AutoShape 39" id="39"/>
          <p:cNvSpPr/>
          <p:nvPr/>
        </p:nvSpPr>
        <p:spPr>
          <a:xfrm rot="4860">
            <a:off x="815807" y="7470457"/>
            <a:ext cx="1016413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822960" y="7630287"/>
            <a:ext cx="384048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Workflow template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800600" y="7630287"/>
            <a:ext cx="60350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gated approvals</a:t>
            </a:r>
          </a:p>
        </p:txBody>
      </p:sp>
      <p:sp>
        <p:nvSpPr>
          <p:cNvPr name="AutoShape 42" id="42"/>
          <p:cNvSpPr/>
          <p:nvPr/>
        </p:nvSpPr>
        <p:spPr>
          <a:xfrm rot="4860">
            <a:off x="815807" y="8156257"/>
            <a:ext cx="1016413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822960" y="8316087"/>
            <a:ext cx="384048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Role-based access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800600" y="8316087"/>
            <a:ext cx="60350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who can do what</a:t>
            </a:r>
          </a:p>
        </p:txBody>
      </p:sp>
      <p:sp>
        <p:nvSpPr>
          <p:cNvPr name="AutoShape 45" id="45"/>
          <p:cNvSpPr/>
          <p:nvPr/>
        </p:nvSpPr>
        <p:spPr>
          <a:xfrm rot="4860">
            <a:off x="815807" y="8842057"/>
            <a:ext cx="1016413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12344400" y="6290310"/>
            <a:ext cx="50749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6E6B66"/>
                </a:solidFill>
                <a:latin typeface="Arial Bold"/>
                <a:ea typeface="Arial Bold"/>
                <a:cs typeface="Arial Bold"/>
                <a:sym typeface="Arial Bold"/>
              </a:rPr>
              <a:t>ONE CROSS-FUNCTIONAL SQUAD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44400" y="6779895"/>
            <a:ext cx="5074920" cy="220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Product Owner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Solution Architect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Data Engineer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Compliance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2960" y="9582150"/>
            <a:ext cx="68580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449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FILTER     </a:t>
            </a:r>
            <a:r>
              <a:rPr lang="en-US" b="true" sz="1275" spc="449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DELIVER     </a:t>
            </a:r>
            <a:r>
              <a:rPr lang="en-US" sz="1275" spc="449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MULTIPLY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676120" y="9582150"/>
            <a:ext cx="278434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 spc="449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792480"/>
            <a:ext cx="6858000" cy="174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1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deployed</a:t>
            </a:r>
          </a:p>
          <a:p>
            <a:pPr algn="l">
              <a:lnSpc>
                <a:spcPts val="5630"/>
              </a:lnSpc>
            </a:pPr>
            <a:r>
              <a:rPr lang="en-US" sz="51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 case becomes</a:t>
            </a:r>
          </a:p>
          <a:p>
            <a:pPr algn="l">
              <a:lnSpc>
                <a:spcPts val="5630"/>
              </a:lnSpc>
            </a:pPr>
            <a:r>
              <a:rPr lang="en-US" sz="51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 asset.</a:t>
            </a:r>
          </a:p>
        </p:txBody>
      </p:sp>
      <p:sp>
        <p:nvSpPr>
          <p:cNvPr name="AutoShape 3" id="3"/>
          <p:cNvSpPr/>
          <p:nvPr/>
        </p:nvSpPr>
        <p:spPr>
          <a:xfrm rot="8280">
            <a:off x="815807" y="3904297"/>
            <a:ext cx="591218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22960" y="4132707"/>
            <a:ext cx="685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B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7340" y="4091559"/>
            <a:ext cx="493776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Pilot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7340" y="4603242"/>
            <a:ext cx="49377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Electronics and apparel</a:t>
            </a:r>
          </a:p>
        </p:txBody>
      </p:sp>
      <p:sp>
        <p:nvSpPr>
          <p:cNvPr name="AutoShape 7" id="7"/>
          <p:cNvSpPr/>
          <p:nvPr/>
        </p:nvSpPr>
        <p:spPr>
          <a:xfrm rot="8280">
            <a:off x="815807" y="5179886"/>
            <a:ext cx="591218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822960" y="5408295"/>
            <a:ext cx="685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B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7340" y="5367147"/>
            <a:ext cx="493776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Feedback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7340" y="5878830"/>
            <a:ext cx="49377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Filters, trends over time, CSAT impact</a:t>
            </a:r>
          </a:p>
        </p:txBody>
      </p:sp>
      <p:sp>
        <p:nvSpPr>
          <p:cNvPr name="AutoShape 11" id="11"/>
          <p:cNvSpPr/>
          <p:nvPr/>
        </p:nvSpPr>
        <p:spPr>
          <a:xfrm rot="8280">
            <a:off x="815807" y="6455474"/>
            <a:ext cx="591218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822960" y="6683883"/>
            <a:ext cx="685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B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7340" y="6642735"/>
            <a:ext cx="493776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UI refinements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7340" y="7154418"/>
            <a:ext cx="49377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Fixes from pilot feedback</a:t>
            </a:r>
          </a:p>
        </p:txBody>
      </p:sp>
      <p:sp>
        <p:nvSpPr>
          <p:cNvPr name="AutoShape 15" id="15"/>
          <p:cNvSpPr/>
          <p:nvPr/>
        </p:nvSpPr>
        <p:spPr>
          <a:xfrm rot="8280">
            <a:off x="815807" y="7731062"/>
            <a:ext cx="591218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822960" y="7959471"/>
            <a:ext cx="685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B6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7340" y="7918323"/>
            <a:ext cx="493776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KPIs tracked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7340" y="8430006"/>
            <a:ext cx="493776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Against the day-one targets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671435" y="744855"/>
            <a:ext cx="9798558" cy="8042910"/>
            <a:chOff x="0" y="0"/>
            <a:chExt cx="13064744" cy="10723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64744" cy="10723880"/>
            </a:xfrm>
            <a:custGeom>
              <a:avLst/>
              <a:gdLst/>
              <a:ahLst/>
              <a:cxnLst/>
              <a:rect r="r" b="b" t="t" l="l"/>
              <a:pathLst>
                <a:path h="10723880" w="13064744">
                  <a:moveTo>
                    <a:pt x="0" y="0"/>
                  </a:moveTo>
                  <a:lnTo>
                    <a:pt x="13064744" y="0"/>
                  </a:lnTo>
                  <a:lnTo>
                    <a:pt x="13064744" y="10723880"/>
                  </a:lnTo>
                  <a:lnTo>
                    <a:pt x="0" y="10723880"/>
                  </a:lnTo>
                  <a:close/>
                </a:path>
              </a:pathLst>
            </a:custGeom>
            <a:solidFill>
              <a:srgbClr val="134E45"/>
            </a:solidFill>
            <a:ln w="19050" cap="sq">
              <a:solidFill>
                <a:srgbClr val="134E45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8092440" y="1146810"/>
            <a:ext cx="6858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82E2CE"/>
                </a:solidFill>
                <a:latin typeface="Arial Bold"/>
                <a:ea typeface="Arial Bold"/>
                <a:cs typeface="Arial Bold"/>
                <a:sym typeface="Arial Bold"/>
              </a:rPr>
              <a:t>GLOBAL MARKETPLACE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92440" y="1617345"/>
            <a:ext cx="8915400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Calibo-managed, cross-tenant. Assets pass an analysis for shareability, scalability and reusability.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082915" y="3282315"/>
            <a:ext cx="8975598" cy="5093970"/>
            <a:chOff x="0" y="0"/>
            <a:chExt cx="11967464" cy="6791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967464" cy="6791960"/>
            </a:xfrm>
            <a:custGeom>
              <a:avLst/>
              <a:gdLst/>
              <a:ahLst/>
              <a:cxnLst/>
              <a:rect r="r" b="b" t="t" l="l"/>
              <a:pathLst>
                <a:path h="6791960" w="11967464">
                  <a:moveTo>
                    <a:pt x="0" y="0"/>
                  </a:moveTo>
                  <a:lnTo>
                    <a:pt x="11967464" y="0"/>
                  </a:lnTo>
                  <a:lnTo>
                    <a:pt x="11967464" y="6791960"/>
                  </a:lnTo>
                  <a:lnTo>
                    <a:pt x="0" y="6791960"/>
                  </a:lnTo>
                  <a:close/>
                </a:path>
              </a:pathLst>
            </a:custGeom>
            <a:solidFill>
              <a:srgbClr val="82E2CE"/>
            </a:solidFill>
            <a:ln w="19050" cap="sq">
              <a:solidFill>
                <a:srgbClr val="82E2CE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8503920" y="3615690"/>
            <a:ext cx="6858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INTERNAL MARKETPLACE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03920" y="4086225"/>
            <a:ext cx="809244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Tenant-only vault: metadata, versioning, audit logs, role access.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494395" y="6231255"/>
            <a:ext cx="4133850" cy="1184910"/>
            <a:chOff x="0" y="0"/>
            <a:chExt cx="5511800" cy="1579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11800" cy="1579880"/>
            </a:xfrm>
            <a:custGeom>
              <a:avLst/>
              <a:gdLst/>
              <a:ahLst/>
              <a:cxnLst/>
              <a:rect r="r" b="b" t="t" l="l"/>
              <a:pathLst>
                <a:path h="1579880" w="5511800">
                  <a:moveTo>
                    <a:pt x="0" y="0"/>
                  </a:moveTo>
                  <a:lnTo>
                    <a:pt x="5511800" y="0"/>
                  </a:lnTo>
                  <a:lnTo>
                    <a:pt x="5511800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503920" y="6240780"/>
            <a:ext cx="4114800" cy="1165860"/>
            <a:chOff x="0" y="0"/>
            <a:chExt cx="548640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70" r="0" b="-187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48640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Sentiment API + dashboard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92880">
            <a:off x="12604242" y="6814185"/>
            <a:ext cx="1057666" cy="0"/>
          </a:xfrm>
          <a:prstGeom prst="line">
            <a:avLst/>
          </a:prstGeom>
          <a:ln cap="rnd" w="19050">
            <a:solidFill>
              <a:srgbClr val="23232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3" id="33"/>
          <p:cNvGrpSpPr/>
          <p:nvPr/>
        </p:nvGrpSpPr>
        <p:grpSpPr>
          <a:xfrm rot="0">
            <a:off x="13637895" y="6231255"/>
            <a:ext cx="3036570" cy="1184910"/>
            <a:chOff x="0" y="0"/>
            <a:chExt cx="4048760" cy="1579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48760" cy="1579880"/>
            </a:xfrm>
            <a:custGeom>
              <a:avLst/>
              <a:gdLst/>
              <a:ahLst/>
              <a:cxnLst/>
              <a:rect r="r" b="b" t="t" l="l"/>
              <a:pathLst>
                <a:path h="157988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EFECE7"/>
            </a:solidFill>
            <a:ln w="19050" cap="sq">
              <a:solidFill>
                <a:srgbClr val="EFECE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3647420" y="6240780"/>
            <a:ext cx="3017520" cy="1165860"/>
            <a:chOff x="0" y="0"/>
            <a:chExt cx="4023360" cy="1554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1" r="0" b="-43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02336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2323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Customer support team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344400" y="7593330"/>
            <a:ext cx="43891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b="true" sz="1275" spc="449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REUSED, NO REWORK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22960" y="9582150"/>
            <a:ext cx="68580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449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FILTER     DELIVER     </a:t>
            </a:r>
            <a:r>
              <a:rPr lang="en-US" b="true" sz="1275" spc="449">
                <a:solidFill>
                  <a:srgbClr val="232323"/>
                </a:solidFill>
                <a:latin typeface="Arial Bold"/>
                <a:ea typeface="Arial Bold"/>
                <a:cs typeface="Arial Bold"/>
                <a:sym typeface="Arial Bold"/>
              </a:rPr>
              <a:t>MULTIPLY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76120" y="9582150"/>
            <a:ext cx="278434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 spc="449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39047" y="-9525"/>
            <a:ext cx="9153906" cy="10306050"/>
            <a:chOff x="0" y="0"/>
            <a:chExt cx="12205208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05208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2205208">
                  <a:moveTo>
                    <a:pt x="0" y="0"/>
                  </a:moveTo>
                  <a:lnTo>
                    <a:pt x="12205208" y="0"/>
                  </a:lnTo>
                  <a:lnTo>
                    <a:pt x="12205208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232323"/>
            </a:solidFill>
            <a:ln w="19050" cap="sq">
              <a:solidFill>
                <a:srgbClr val="232323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822960" y="802005"/>
            <a:ext cx="7680960" cy="173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4"/>
              </a:lnSpc>
            </a:pPr>
            <a:r>
              <a:rPr lang="en-US" sz="60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holds 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75520" y="802005"/>
            <a:ext cx="7680960" cy="173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4"/>
              </a:lnSpc>
            </a:pPr>
            <a:r>
              <a:rPr lang="en-US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we'd question</a:t>
            </a:r>
          </a:p>
        </p:txBody>
      </p:sp>
      <p:sp>
        <p:nvSpPr>
          <p:cNvPr name="AutoShape 6" id="6"/>
          <p:cNvSpPr/>
          <p:nvPr/>
        </p:nvSpPr>
        <p:spPr>
          <a:xfrm rot="6480">
            <a:off x="815807" y="2875598"/>
            <a:ext cx="755809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22960" y="3154680"/>
            <a:ext cx="7543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Reuse by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960" y="3811905"/>
            <a:ext cx="713232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Winners become assets, not one-off projects.</a:t>
            </a:r>
          </a:p>
        </p:txBody>
      </p:sp>
      <p:sp>
        <p:nvSpPr>
          <p:cNvPr name="AutoShape 9" id="9"/>
          <p:cNvSpPr/>
          <p:nvPr/>
        </p:nvSpPr>
        <p:spPr>
          <a:xfrm rot="6480">
            <a:off x="815807" y="4864418"/>
            <a:ext cx="755809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822960" y="5143500"/>
            <a:ext cx="7543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KPIs on day one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5800725"/>
            <a:ext cx="713232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Success is defined before anything is built.</a:t>
            </a:r>
          </a:p>
        </p:txBody>
      </p:sp>
      <p:sp>
        <p:nvSpPr>
          <p:cNvPr name="AutoShape 12" id="12"/>
          <p:cNvSpPr/>
          <p:nvPr/>
        </p:nvSpPr>
        <p:spPr>
          <a:xfrm rot="6480">
            <a:off x="815807" y="6853238"/>
            <a:ext cx="7558097" cy="0"/>
          </a:xfrm>
          <a:prstGeom prst="line">
            <a:avLst/>
          </a:prstGeom>
          <a:ln cap="rnd" w="9525">
            <a:solidFill>
              <a:srgbClr val="C8C4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822960" y="7132320"/>
            <a:ext cx="7543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323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Governance in the tooling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960" y="7789545"/>
            <a:ext cx="713232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Approved tools and approvals live in the platform, not in meetings.</a:t>
            </a:r>
          </a:p>
        </p:txBody>
      </p:sp>
      <p:sp>
        <p:nvSpPr>
          <p:cNvPr name="AutoShape 15" id="15"/>
          <p:cNvSpPr/>
          <p:nvPr/>
        </p:nvSpPr>
        <p:spPr>
          <a:xfrm rot="6480">
            <a:off x="9868367" y="2875598"/>
            <a:ext cx="7558097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9875520" y="3154680"/>
            <a:ext cx="7543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Vendor-authored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75520" y="3811905"/>
            <a:ext cx="713232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Stats are cited, not shown, and the method leans on Calibo's Sandbox.</a:t>
            </a:r>
          </a:p>
        </p:txBody>
      </p:sp>
      <p:sp>
        <p:nvSpPr>
          <p:cNvPr name="AutoShape 18" id="18"/>
          <p:cNvSpPr/>
          <p:nvPr/>
        </p:nvSpPr>
        <p:spPr>
          <a:xfrm rot="6480">
            <a:off x="9868367" y="4864418"/>
            <a:ext cx="7558097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9875520" y="5143500"/>
            <a:ext cx="7543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ROI number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75520" y="5800725"/>
            <a:ext cx="713232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ROI is the headline metric, yet the case study never gives one.</a:t>
            </a:r>
          </a:p>
        </p:txBody>
      </p:sp>
      <p:sp>
        <p:nvSpPr>
          <p:cNvPr name="AutoShape 21" id="21"/>
          <p:cNvSpPr/>
          <p:nvPr/>
        </p:nvSpPr>
        <p:spPr>
          <a:xfrm rot="6480">
            <a:off x="9868367" y="6853238"/>
            <a:ext cx="7558097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9875520" y="7132320"/>
            <a:ext cx="7543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Partly conceptual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75520" y="7789545"/>
            <a:ext cx="713232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B9B6B0"/>
                </a:solidFill>
                <a:latin typeface="Arial"/>
                <a:ea typeface="Arial"/>
                <a:cs typeface="Arial"/>
                <a:sym typeface="Arial"/>
              </a:rPr>
              <a:t>The material itself says parts of Stage 3 are still being designed.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2960" y="9582150"/>
            <a:ext cx="27432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spc="449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17520" y="-1645920"/>
            <a:ext cx="13030200" cy="13030200"/>
            <a:chOff x="0" y="0"/>
            <a:chExt cx="17373600" cy="17373600"/>
          </a:xfrm>
        </p:grpSpPr>
        <p:sp>
          <p:nvSpPr>
            <p:cNvPr name="Freeform 3" id="3" descr="tex.png"/>
            <p:cNvSpPr/>
            <p:nvPr/>
          </p:nvSpPr>
          <p:spPr>
            <a:xfrm flipH="true" flipV="false" rot="0">
              <a:off x="0" y="0"/>
              <a:ext cx="17373600" cy="17373600"/>
            </a:xfrm>
            <a:custGeom>
              <a:avLst/>
              <a:gdLst/>
              <a:ahLst/>
              <a:cxnLst/>
              <a:rect r="r" b="b" t="t" l="l"/>
              <a:pathLst>
                <a:path h="17373600" w="17373600">
                  <a:moveTo>
                    <a:pt x="17373600" y="0"/>
                  </a:moveTo>
                  <a:lnTo>
                    <a:pt x="0" y="0"/>
                  </a:lnTo>
                  <a:lnTo>
                    <a:pt x="0" y="17373600"/>
                  </a:lnTo>
                  <a:lnTo>
                    <a:pt x="17373600" y="17373600"/>
                  </a:lnTo>
                  <a:lnTo>
                    <a:pt x="1737360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1234440"/>
            <a:ext cx="13030200" cy="1783080"/>
            <a:chOff x="0" y="0"/>
            <a:chExt cx="17373600" cy="2377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736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737360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80"/>
                </a:lnSpc>
              </a:pPr>
              <a:r>
                <a:rPr lang="en-US" sz="9900">
                  <a:solidFill>
                    <a:srgbClr val="23232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pick the right bets.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990320" y="1234440"/>
            <a:ext cx="3470148" cy="1783080"/>
            <a:chOff x="0" y="0"/>
            <a:chExt cx="4626864" cy="2377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26864" cy="2377440"/>
            </a:xfrm>
            <a:custGeom>
              <a:avLst/>
              <a:gdLst/>
              <a:ahLst/>
              <a:cxnLst/>
              <a:rect r="r" b="b" t="t" l="l"/>
              <a:pathLst>
                <a:path h="2377440" w="4626864">
                  <a:moveTo>
                    <a:pt x="0" y="0"/>
                  </a:moveTo>
                  <a:lnTo>
                    <a:pt x="4626864" y="0"/>
                  </a:lnTo>
                  <a:lnTo>
                    <a:pt x="4626864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26" t="0" r="-15926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626864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b="true" sz="1350" spc="599">
                  <a:solidFill>
                    <a:srgbClr val="134E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FILTER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2940">
            <a:off x="815816" y="3149917"/>
            <a:ext cx="16651805" cy="0"/>
          </a:xfrm>
          <a:prstGeom prst="line">
            <a:avLst/>
          </a:prstGeom>
          <a:ln cap="rnd" w="9525">
            <a:solidFill>
              <a:srgbClr val="23232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822960" y="3291840"/>
            <a:ext cx="13030200" cy="1783080"/>
            <a:chOff x="0" y="0"/>
            <a:chExt cx="17373600" cy="2377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737360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80"/>
                </a:lnSpc>
              </a:pPr>
              <a:r>
                <a:rPr lang="en-US" sz="9900">
                  <a:solidFill>
                    <a:srgbClr val="23232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ship small.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990320" y="3291840"/>
            <a:ext cx="3470148" cy="1783080"/>
            <a:chOff x="0" y="0"/>
            <a:chExt cx="4626864" cy="2377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26864" cy="2377440"/>
            </a:xfrm>
            <a:custGeom>
              <a:avLst/>
              <a:gdLst/>
              <a:ahLst/>
              <a:cxnLst/>
              <a:rect r="r" b="b" t="t" l="l"/>
              <a:pathLst>
                <a:path h="2377440" w="4626864">
                  <a:moveTo>
                    <a:pt x="0" y="0"/>
                  </a:moveTo>
                  <a:lnTo>
                    <a:pt x="4626864" y="0"/>
                  </a:lnTo>
                  <a:lnTo>
                    <a:pt x="4626864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26" t="0" r="-1592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626864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b="true" sz="1350" spc="599">
                  <a:solidFill>
                    <a:srgbClr val="134E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DELIVER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2940">
            <a:off x="815816" y="5207318"/>
            <a:ext cx="16651805" cy="0"/>
          </a:xfrm>
          <a:prstGeom prst="line">
            <a:avLst/>
          </a:prstGeom>
          <a:ln cap="rnd" w="9525">
            <a:solidFill>
              <a:srgbClr val="23232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822960" y="5349240"/>
            <a:ext cx="13030200" cy="1783080"/>
            <a:chOff x="0" y="0"/>
            <a:chExt cx="17373600" cy="2377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3736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7373600" cy="2367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80"/>
                </a:lnSpc>
              </a:pPr>
              <a:r>
                <a:rPr lang="en-US" sz="9900">
                  <a:solidFill>
                    <a:srgbClr val="23232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make it reusable.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990320" y="5349240"/>
            <a:ext cx="3470148" cy="1783080"/>
            <a:chOff x="0" y="0"/>
            <a:chExt cx="4626864" cy="2377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26864" cy="2377440"/>
            </a:xfrm>
            <a:custGeom>
              <a:avLst/>
              <a:gdLst/>
              <a:ahLst/>
              <a:cxnLst/>
              <a:rect r="r" b="b" t="t" l="l"/>
              <a:pathLst>
                <a:path h="2377440" w="4626864">
                  <a:moveTo>
                    <a:pt x="0" y="0"/>
                  </a:moveTo>
                  <a:lnTo>
                    <a:pt x="4626864" y="0"/>
                  </a:lnTo>
                  <a:lnTo>
                    <a:pt x="4626864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26" t="0" r="-15926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626864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b="true" sz="1350" spc="599">
                  <a:solidFill>
                    <a:srgbClr val="134E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MULTIPLY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2940">
            <a:off x="815816" y="7264718"/>
            <a:ext cx="16651805" cy="0"/>
          </a:xfrm>
          <a:prstGeom prst="line">
            <a:avLst/>
          </a:prstGeom>
          <a:ln cap="rnd" w="9525">
            <a:solidFill>
              <a:srgbClr val="2323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822960" y="8004810"/>
            <a:ext cx="137160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Innovation stops being a project and becomes a pipeline.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76120" y="9582150"/>
            <a:ext cx="278434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 spc="449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52560" y="-4663440"/>
            <a:ext cx="12344400" cy="12344400"/>
            <a:chOff x="0" y="0"/>
            <a:chExt cx="16459200" cy="16459200"/>
          </a:xfrm>
        </p:grpSpPr>
        <p:sp>
          <p:nvSpPr>
            <p:cNvPr name="Freeform 3" id="3" descr="tex.png"/>
            <p:cNvSpPr/>
            <p:nvPr/>
          </p:nvSpPr>
          <p:spPr>
            <a:xfrm flipH="false" flipV="false" rot="0">
              <a:off x="0" y="0"/>
              <a:ext cx="16459200" cy="16459200"/>
            </a:xfrm>
            <a:custGeom>
              <a:avLst/>
              <a:gdLst/>
              <a:ahLst/>
              <a:cxnLst/>
              <a:rect r="r" b="b" t="t" l="l"/>
              <a:pathLst>
                <a:path h="164592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6459200"/>
                  </a:lnTo>
                  <a:lnTo>
                    <a:pt x="0" y="1645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2960" y="803910"/>
            <a:ext cx="82296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82E2CE"/>
                </a:solidFill>
                <a:latin typeface="Arial Bold"/>
                <a:ea typeface="Arial Bold"/>
                <a:cs typeface="Arial Bold"/>
                <a:sym typeface="Arial Bold"/>
              </a:rPr>
              <a:t>5 MIN  ·  ASK US ANYTHING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800" y="1645920"/>
            <a:ext cx="13716000" cy="356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0"/>
              </a:lnSpc>
            </a:pPr>
            <a:r>
              <a:rPr lang="en-US" sz="18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questions?</a:t>
            </a:r>
          </a:p>
        </p:txBody>
      </p:sp>
      <p:sp>
        <p:nvSpPr>
          <p:cNvPr name="AutoShape 6" id="6"/>
          <p:cNvSpPr/>
          <p:nvPr/>
        </p:nvSpPr>
        <p:spPr>
          <a:xfrm rot="12720">
            <a:off x="815807" y="7127557"/>
            <a:ext cx="3854796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22960" y="7319010"/>
            <a:ext cx="384048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82E2CE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b="true" sz="1350" spc="449">
                <a:solidFill>
                  <a:srgbClr val="82E2CE"/>
                </a:solidFill>
                <a:latin typeface="Arial Bold"/>
                <a:ea typeface="Arial Bold"/>
                <a:cs typeface="Arial Bold"/>
                <a:sym typeface="Arial Bold"/>
              </a:rPr>
              <a:t>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960" y="7799070"/>
            <a:ext cx="37719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D8D5C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650">
                <a:solidFill>
                  <a:srgbClr val="D8D5CF"/>
                </a:solidFill>
                <a:latin typeface="Arial"/>
                <a:ea typeface="Arial"/>
                <a:cs typeface="Arial"/>
                <a:sym typeface="Arial"/>
              </a:rPr>
              <a:t>alibo AI Academy · 1st Presentation Activity</a:t>
            </a:r>
          </a:p>
        </p:txBody>
      </p:sp>
      <p:sp>
        <p:nvSpPr>
          <p:cNvPr name="AutoShape 9" id="9"/>
          <p:cNvSpPr/>
          <p:nvPr/>
        </p:nvSpPr>
        <p:spPr>
          <a:xfrm rot="12720">
            <a:off x="5026619" y="7127557"/>
            <a:ext cx="3854796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5033772" y="7319010"/>
            <a:ext cx="38404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82E2CE"/>
                </a:solidFill>
                <a:latin typeface="Arial Bold"/>
                <a:ea typeface="Arial Bold"/>
                <a:cs typeface="Arial Bold"/>
                <a:sym typeface="Arial Bold"/>
              </a:rPr>
              <a:t>BASED 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33772" y="7799070"/>
            <a:ext cx="3771900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D8D5CF"/>
                </a:solidFill>
                <a:latin typeface="Arial"/>
                <a:ea typeface="Arial"/>
                <a:cs typeface="Arial"/>
                <a:sym typeface="Arial"/>
              </a:rPr>
              <a:t>Calibo's Digital Business Innovation Methodology introduction. Statistics (Gartner, Forrester) as cited there.</a:t>
            </a:r>
          </a:p>
        </p:txBody>
      </p:sp>
      <p:sp>
        <p:nvSpPr>
          <p:cNvPr name="AutoShape 12" id="12"/>
          <p:cNvSpPr/>
          <p:nvPr/>
        </p:nvSpPr>
        <p:spPr>
          <a:xfrm rot="12720">
            <a:off x="9237431" y="7127557"/>
            <a:ext cx="3854796" cy="0"/>
          </a:xfrm>
          <a:prstGeom prst="line">
            <a:avLst/>
          </a:prstGeom>
          <a:ln cap="rnd" w="95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244584" y="7319010"/>
            <a:ext cx="38404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449">
                <a:solidFill>
                  <a:srgbClr val="82E2CE"/>
                </a:solidFill>
                <a:latin typeface="Arial Bold"/>
                <a:ea typeface="Arial Bold"/>
                <a:cs typeface="Arial Bold"/>
                <a:sym typeface="Arial Bold"/>
              </a:rPr>
              <a:t>OUR OWN WORK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44584" y="7799070"/>
            <a:ext cx="3771900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D8D5CF"/>
                </a:solidFill>
                <a:latin typeface="Arial"/>
                <a:ea typeface="Arial"/>
                <a:cs typeface="Arial"/>
                <a:sym typeface="Arial"/>
              </a:rPr>
              <a:t>The ICE example and the critical take.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76120" y="9582150"/>
            <a:ext cx="278434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 spc="449">
                <a:solidFill>
                  <a:srgbClr val="8D8A85"/>
                </a:solidFill>
                <a:latin typeface="Arial"/>
                <a:ea typeface="Arial"/>
                <a:cs typeface="Arial"/>
                <a:sym typeface="Arial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800600" y="-2057400"/>
            <a:ext cx="12344400" cy="12344400"/>
            <a:chOff x="0" y="0"/>
            <a:chExt cx="16459200" cy="16459200"/>
          </a:xfrm>
        </p:grpSpPr>
        <p:sp>
          <p:nvSpPr>
            <p:cNvPr name="Freeform 3" id="3" descr="tex.png"/>
            <p:cNvSpPr/>
            <p:nvPr/>
          </p:nvSpPr>
          <p:spPr>
            <a:xfrm flipH="false" flipV="false" rot="0">
              <a:off x="0" y="0"/>
              <a:ext cx="16459200" cy="16459200"/>
            </a:xfrm>
            <a:custGeom>
              <a:avLst/>
              <a:gdLst/>
              <a:ahLst/>
              <a:cxnLst/>
              <a:rect r="r" b="b" t="t" l="l"/>
              <a:pathLst>
                <a:path h="164592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6459200"/>
                  </a:lnTo>
                  <a:lnTo>
                    <a:pt x="0" y="1645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0" y="1645920"/>
            <a:ext cx="820579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0"/>
              </a:lnSpc>
            </a:pPr>
            <a:r>
              <a:rPr lang="en-US" sz="18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credits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76120" y="9582150"/>
            <a:ext cx="278434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0"/>
              </a:lnSpc>
            </a:pPr>
            <a:r>
              <a:rPr lang="en-US" sz="1275" spc="449">
                <a:solidFill>
                  <a:srgbClr val="8D8A85"/>
                </a:solidFill>
                <a:latin typeface="Arial"/>
                <a:ea typeface="Arial"/>
                <a:cs typeface="Arial"/>
                <a:sym typeface="Arial"/>
              </a:rPr>
              <a:t>10 /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4334" y="4370070"/>
            <a:ext cx="436452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b="true" sz="1949" spc="649">
                <a:solidFill>
                  <a:srgbClr val="82E2CE"/>
                </a:solidFill>
                <a:latin typeface="Arial Bold"/>
                <a:ea typeface="Arial Bold"/>
                <a:cs typeface="Arial Bold"/>
                <a:sym typeface="Arial Bold"/>
              </a:rPr>
              <a:t>BATCH 3</a:t>
            </a:r>
            <a:r>
              <a:rPr lang="en-US" b="true" sz="1949" spc="649">
                <a:solidFill>
                  <a:srgbClr val="82E2CE"/>
                </a:solidFill>
                <a:latin typeface="Arial Bold"/>
                <a:ea typeface="Arial Bold"/>
                <a:cs typeface="Arial Bold"/>
                <a:sym typeface="Arial Bold"/>
              </a:rPr>
              <a:t>  ·  TEAM 5</a:t>
            </a:r>
          </a:p>
        </p:txBody>
      </p:sp>
      <p:sp>
        <p:nvSpPr>
          <p:cNvPr name="AutoShape 7" id="7"/>
          <p:cNvSpPr/>
          <p:nvPr/>
        </p:nvSpPr>
        <p:spPr>
          <a:xfrm>
            <a:off x="9524334" y="5119688"/>
            <a:ext cx="8335064" cy="0"/>
          </a:xfrm>
          <a:prstGeom prst="line">
            <a:avLst/>
          </a:prstGeom>
          <a:ln cap="rnd" w="47625">
            <a:solidFill>
              <a:srgbClr val="4A4A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9524334" y="5697284"/>
            <a:ext cx="6065589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653" spc="15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Chitakana Divya</a:t>
            </a:r>
          </a:p>
          <a:p>
            <a:pPr algn="l">
              <a:lnSpc>
                <a:spcPts val="3184"/>
              </a:lnSpc>
            </a:pPr>
          </a:p>
          <a:p>
            <a:pPr algn="l">
              <a:lnSpc>
                <a:spcPts val="3184"/>
              </a:lnSpc>
            </a:pPr>
            <a:r>
              <a:rPr lang="en-US" sz="2653" spc="15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Chippada Hemalatha</a:t>
            </a:r>
          </a:p>
          <a:p>
            <a:pPr algn="l">
              <a:lnSpc>
                <a:spcPts val="3184"/>
              </a:lnSpc>
            </a:pPr>
          </a:p>
          <a:p>
            <a:pPr algn="l">
              <a:lnSpc>
                <a:spcPts val="3184"/>
              </a:lnSpc>
            </a:pPr>
            <a:r>
              <a:rPr lang="en-US" sz="2653" spc="15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Lanke Tejavardhan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DAHWyBpz2kE</dc:identifier>
  <dcterms:modified xsi:type="dcterms:W3CDTF">2011-08-01T06:04:30Z</dcterms:modified>
  <cp:revision>1</cp:revision>
  <dc:title>DBIMppt_Batch3_Team05_</dc:title>
</cp:coreProperties>
</file>